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872000"/>
            <a:ext cx="1044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Calibri"/>
              </a:rPr>
              <a:t>EcoTracker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240000"/>
            <a:ext cx="936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8BC34A"/>
                </a:solidFill>
                <a:latin typeface="Calibri"/>
              </a:rPr>
              <a:t>Compliance ambiental e pegada de carbono em uma única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4896000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Startup One  |  FIAP  |  Grupo 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256000"/>
            <a:ext cx="93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BC34A"/>
                </a:solidFill>
                <a:latin typeface="Calibri"/>
              </a:rPr>
              <a:t>Markus de Figueiredo Ferraz Wirz  –  RM561367  –  markusfwirz@gmail.com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72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C34A"/>
                </a:solidFill>
                <a:latin typeface="Calibri"/>
              </a:rPr>
              <a:t>ABERTURA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76000"/>
            <a:ext cx="1080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5E20"/>
                </a:solidFill>
                <a:latin typeface="Calibri"/>
              </a:rPr>
              <a:t>ESG saiu do discurso e virou obrigação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655999"/>
            <a:ext cx="10800000" cy="477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12121"/>
                </a:solidFill>
                <a:latin typeface="Calibri"/>
              </a:rPr>
              <a:t>●  Empresas brasileiras precisam provar conformidade ambiental: licenças válidas, inventário de emissões, auditorias e resposta a incidentes.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12121"/>
                </a:solidFill>
                <a:latin typeface="Calibri"/>
              </a:rPr>
              <a:t>●  A regulação acelerou: mercado regulado de carbono (Lei 15.042/2024), relato de sustentabilidade obrigatório para companhias abertas (CVM 193) e exigências dos órgãos estaduais.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12121"/>
                </a:solidFill>
                <a:latin typeface="Calibri"/>
              </a:rPr>
              <a:t>●  Ao mesmo tempo, o cidadão quer entender e reduzir a própria pegada — e hoje não tem como medir.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12121"/>
                </a:solidFill>
                <a:latin typeface="Calibri"/>
              </a:rPr>
              <a:t>●  O EcoTracker nasce nesse encontro: uma plataforma que mede, cobra prazo e comprova conformidade — para a empresa e para a pessoa.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6318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555B55"/>
                </a:solidFill>
                <a:latin typeface="Calibri"/>
              </a:rPr>
              <a:t>Referências regulatórias públicas; números de mercado nos próximos slides são estimativas do grupo.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72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C34A"/>
                </a:solidFill>
                <a:latin typeface="Calibri"/>
              </a:rPr>
              <a:t>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76000"/>
            <a:ext cx="1080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5E20"/>
                </a:solidFill>
                <a:latin typeface="Calibri"/>
              </a:rPr>
              <a:t>Controle de conformidade feito em planilha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584000"/>
            <a:ext cx="6660000" cy="48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12121"/>
                </a:solidFill>
                <a:latin typeface="Calibri"/>
              </a:rPr>
              <a:t>●  Licença ambiental vencida = multa, embargo e paralisação da operação. O controle, na maioria das empresas, é uma planilha e a memória de quem cuida dela.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12121"/>
                </a:solidFill>
                <a:latin typeface="Calibri"/>
              </a:rPr>
              <a:t>●  Inventário de carbono é montado uma vez por ano, à mão, consolidando e-mails e arquivos de várias unidades — sem rastreabilidade de quem informou o quê.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12121"/>
                </a:solidFill>
                <a:latin typeface="Calibri"/>
              </a:rPr>
              <a:t>●  Auditorias e não conformidades viram documentos soltos: no dia da fiscalização, ninguém acha a evidência.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12121"/>
                </a:solidFill>
                <a:latin typeface="Calibri"/>
              </a:rPr>
              <a:t>●  Resultado: a empresa descobre o problema depois da multa, e não antes do prazo.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40000" y="1655999"/>
            <a:ext cx="3851999" cy="4031999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92000" y="1872000"/>
            <a:ext cx="338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A catástrofe da história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0" y="2304000"/>
            <a:ext cx="3384000" cy="30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Uma planta industrial descobre, no dia da fiscalização, que a condicionante de relatório trimestral da Licença de Operação não foi cumprida.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A licença é suspensa. A produção para.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O alerta que faltava era uma data em uma planilha que ninguém abriu.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72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C34A"/>
                </a:solidFill>
                <a:latin typeface="Calibri"/>
              </a:rPr>
              <a:t>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76000"/>
            <a:ext cx="1080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5E20"/>
                </a:solidFill>
                <a:latin typeface="Calibri"/>
              </a:rPr>
              <a:t>O tamanho da 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00" y="1800000"/>
            <a:ext cx="3528000" cy="1296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76000" y="1944000"/>
            <a:ext cx="3528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5E20"/>
                </a:solidFill>
                <a:latin typeface="Calibri"/>
              </a:rPr>
              <a:t>+21 mil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466000"/>
            <a:ext cx="352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55B55"/>
                </a:solidFill>
                <a:latin typeface="Calibri"/>
              </a:rPr>
              <a:t>indústrias de médio e grande porte no Brasil sujeitas a licenciamento ambiental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0" y="1800000"/>
            <a:ext cx="3528000" cy="1296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20000" y="1944000"/>
            <a:ext cx="3528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5E20"/>
                </a:solidFill>
                <a:latin typeface="Calibri"/>
              </a:rPr>
              <a:t>R$ 1,2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2466000"/>
            <a:ext cx="352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55B55"/>
                </a:solidFill>
                <a:latin typeface="Calibri"/>
              </a:rPr>
              <a:t>estimativa de gasto anual com consultoria de compliance ambiental no país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3999" y="1800000"/>
            <a:ext cx="3528000" cy="1296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63999" y="1944000"/>
            <a:ext cx="3528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5E20"/>
                </a:solidFill>
                <a:latin typeface="Calibri"/>
              </a:rPr>
              <a:t>+100 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3999" y="2466000"/>
            <a:ext cx="352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55B55"/>
                </a:solidFill>
                <a:latin typeface="Calibri"/>
              </a:rPr>
              <a:t>brasileiros com smartphone interessados em consumo sustentável (público do app)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3384000"/>
            <a:ext cx="10800000" cy="30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12121"/>
                </a:solidFill>
                <a:latin typeface="Calibri"/>
              </a:rPr>
              <a:t>●  SAM inicial: 3.000 empresas de médio porte nos estados de SP e MG, onde a exigência de condicionantes é mais rígida.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12121"/>
                </a:solidFill>
                <a:latin typeface="Calibri"/>
              </a:rPr>
              <a:t>●  SOM em 5 anos: 60 contas B2B (2% do SAM) + 100 mil usuários no app, sendo 2% em plano pago — a base do cenário financeiro apresentado adiante.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12121"/>
                </a:solidFill>
                <a:latin typeface="Calibri"/>
              </a:rPr>
              <a:t>●  Motor de crescimento: cada nova obrigação regulatória aumenta a dor e reduz o custo de convencimento da venda.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6318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555B55"/>
                </a:solidFill>
                <a:latin typeface="Calibri"/>
              </a:rPr>
              <a:t>Valores de mercado são estimativas do grupo a partir de fontes públicas, não pesquisa primária.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72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C34A"/>
                </a:solidFill>
                <a:latin typeface="Calibri"/>
              </a:rPr>
              <a:t>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76000"/>
            <a:ext cx="1080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5E20"/>
                </a:solidFill>
                <a:latin typeface="Calibri"/>
              </a:rPr>
              <a:t>Medir, alertar e comprovar — automaticamente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00" y="1800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2000" y="1944000"/>
            <a:ext cx="2196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Inventário de carbono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592000"/>
            <a:ext cx="2196000" cy="201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Lançamentos por escopo 1, 2 e 3, por unidade e competência, com fator de emissão e compensações registradas.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0000" y="1800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36000" y="1944000"/>
            <a:ext cx="2196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Licenças com prazo vivo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6000" y="2592000"/>
            <a:ext cx="2196000" cy="201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Cada licença tem validade e condicionantes; o sistema alerta antes do vencimento, não depois.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4000" y="1800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80000" y="1944000"/>
            <a:ext cx="2196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Auditoria rastreável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0" y="2592000"/>
            <a:ext cx="2196000" cy="201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Checklists por norma (ISO 14001) com dimensão ESG, não conformidade e plano de ação no mesmo registro.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8000" y="1800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4000" y="1944000"/>
            <a:ext cx="2196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Alertas e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4000" y="2592000"/>
            <a:ext cx="2196000" cy="201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Limite de emissão, qualidade do ar e consumo de energia geram alerta classificado por severidade e alimentam o score de conformidade.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5508000"/>
            <a:ext cx="10800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API REST .NET 8 com autenticação JWT + aplicativo Android + base MongoDB para o volume de telemetria e inventário.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72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C34A"/>
                </a:solidFill>
                <a:latin typeface="Calibri"/>
              </a:rPr>
              <a:t>PROTÓTIPO /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76000"/>
            <a:ext cx="1080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5E20"/>
                </a:solidFill>
                <a:latin typeface="Calibri"/>
              </a:rPr>
              <a:t>O aplicativo já roda</a:t>
            </a:r>
          </a:p>
        </p:txBody>
      </p:sp>
      <p:pic>
        <p:nvPicPr>
          <p:cNvPr id="5" name="Picture 4" descr="app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1655999"/>
            <a:ext cx="1800000" cy="39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5796000"/>
            <a:ext cx="2015999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55B55"/>
                </a:solidFill>
                <a:latin typeface="Calibri"/>
              </a:rPr>
              <a:t>Onboarding</a:t>
            </a:r>
          </a:p>
        </p:txBody>
      </p:sp>
      <p:pic>
        <p:nvPicPr>
          <p:cNvPr id="7" name="Picture 6" descr="app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000" y="1655999"/>
            <a:ext cx="1800000" cy="39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08000" y="5796000"/>
            <a:ext cx="2015999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55B55"/>
                </a:solidFill>
                <a:latin typeface="Calibri"/>
              </a:rPr>
              <a:t>Dashboard de pegada</a:t>
            </a:r>
          </a:p>
        </p:txBody>
      </p:sp>
      <p:pic>
        <p:nvPicPr>
          <p:cNvPr id="9" name="Picture 8" descr="app_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000" y="1655999"/>
            <a:ext cx="1800000" cy="39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76000" y="5796000"/>
            <a:ext cx="2015999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55B55"/>
                </a:solidFill>
                <a:latin typeface="Calibri"/>
              </a:rPr>
              <a:t>Qualidade do ar</a:t>
            </a:r>
          </a:p>
        </p:txBody>
      </p:sp>
      <p:pic>
        <p:nvPicPr>
          <p:cNvPr id="11" name="Picture 10" descr="app_transpor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000" y="1655999"/>
            <a:ext cx="1800000" cy="39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44000" y="5796000"/>
            <a:ext cx="2015999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55B55"/>
                </a:solidFill>
                <a:latin typeface="Calibri"/>
              </a:rPr>
              <a:t>Transporte</a:t>
            </a:r>
          </a:p>
        </p:txBody>
      </p:sp>
      <p:pic>
        <p:nvPicPr>
          <p:cNvPr id="13" name="Picture 12" descr="app_dic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00" y="1655999"/>
            <a:ext cx="1800000" cy="390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12000" y="5796000"/>
            <a:ext cx="2015999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55B55"/>
                </a:solidFill>
                <a:latin typeface="Calibri"/>
              </a:rPr>
              <a:t>Recomendações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72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C34A"/>
                </a:solidFill>
                <a:latin typeface="Calibri"/>
              </a:rPr>
              <a:t>PROTÓTIPO /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76000"/>
            <a:ext cx="1080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5E20"/>
                </a:solidFill>
                <a:latin typeface="Calibri"/>
              </a:rPr>
              <a:t>E a plataforma por trás dele</a:t>
            </a:r>
          </a:p>
        </p:txBody>
      </p:sp>
      <p:pic>
        <p:nvPicPr>
          <p:cNvPr id="5" name="Picture 4" descr="swagg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655999"/>
            <a:ext cx="3647368" cy="3959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688000"/>
            <a:ext cx="504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55B55"/>
                </a:solidFill>
                <a:latin typeface="Calibri"/>
              </a:rPr>
              <a:t>API REST documentada em Swagger/OpenAPI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999" y="1655999"/>
            <a:ext cx="5364000" cy="1800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6000" y="1800000"/>
            <a:ext cx="48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Arquitetura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6000" y="2196000"/>
            <a:ext cx="486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●  API REST .NET 8 / ASP.NET Core, JWT e perfis Admin, Auditor e Viewer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●  EF Core (transacional) + MongoDB (inventário, alertas, telemetria)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●  Docker e coleção de requisições versionada</a:t>
            </a:r>
          </a:p>
        </p:txBody>
      </p:sp>
      <p:pic>
        <p:nvPicPr>
          <p:cNvPr id="10" name="Picture 9" descr="shot_read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999" y="3528000"/>
            <a:ext cx="4771304" cy="21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999" y="5724000"/>
            <a:ext cx="536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55B55"/>
                </a:solidFill>
                <a:latin typeface="Calibri"/>
              </a:rPr>
              <a:t>MongoDB: consulta de licenças a vencer nos próximos 120 dias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72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C34A"/>
                </a:solidFill>
                <a:latin typeface="Calibri"/>
              </a:rPr>
              <a:t>VALIDAÇÕES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76000"/>
            <a:ext cx="1080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5E20"/>
                </a:solidFill>
                <a:latin typeface="Calibri"/>
              </a:rPr>
              <a:t>Evidências do experimento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76000" y="1799999"/>
            <a:ext cx="2628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5E20"/>
                </a:solidFill>
                <a:latin typeface="Calibri"/>
              </a:rPr>
              <a:t>17/17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321999"/>
            <a:ext cx="262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55B55"/>
                </a:solidFill>
                <a:latin typeface="Calibri"/>
              </a:rPr>
              <a:t>testes automatizados de integração da API aprovados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56000" y="1799999"/>
            <a:ext cx="2628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5E20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000" y="2321999"/>
            <a:ext cx="262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55B55"/>
                </a:solidFill>
                <a:latin typeface="Calibri"/>
              </a:rPr>
              <a:t>collections ESG com CRUD completo no MongoDB 8.0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36000" y="1799999"/>
            <a:ext cx="2628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5E20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000" y="2321999"/>
            <a:ext cx="262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55B55"/>
                </a:solidFill>
                <a:latin typeface="Calibri"/>
              </a:rPr>
              <a:t>dos fluxos do app navegáveis no MVP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6000" y="1655999"/>
            <a:ext cx="2376000" cy="1296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16000" y="1799999"/>
            <a:ext cx="2376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1B5E20"/>
                </a:solidFill>
                <a:latin typeface="Calibri"/>
              </a:rPr>
              <a:t>JWT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6000" y="2321999"/>
            <a:ext cx="2376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55B55"/>
                </a:solidFill>
                <a:latin typeface="Calibri"/>
              </a:rPr>
              <a:t>autenticação e perfis de acesso em operação</a:t>
            </a:r>
          </a:p>
        </p:txBody>
      </p:sp>
      <p:pic>
        <p:nvPicPr>
          <p:cNvPr id="17" name="Picture 16" descr="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3311999"/>
            <a:ext cx="5400000" cy="137288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6000" y="4788000"/>
            <a:ext cx="54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55B55"/>
                </a:solidFill>
                <a:latin typeface="Calibri"/>
              </a:rPr>
              <a:t>Execução da suíte de testes (dotnet test)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000" y="3311999"/>
            <a:ext cx="5256000" cy="2304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8000" y="3456000"/>
            <a:ext cx="4752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Aprendizados do teste com usuários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000" y="3851999"/>
            <a:ext cx="4752000" cy="165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●  O alerta de prazo foi apontado como a função de maior valor percebido — virou a vitrine do produto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●  Cadastro manual de lançamentos é o principal atrito: prioridade de importação/integração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●  Score de conformidade é o que o gestor quer ver primeiro: foi promovido ao topo do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6318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555B55"/>
                </a:solidFill>
                <a:latin typeface="Calibri"/>
              </a:rPr>
              <a:t>Testes e evidências técnicas são reais; os aprendizados qualitativos vêm da rodada de validação do MVP.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72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C34A"/>
                </a:solidFill>
                <a:latin typeface="Calibri"/>
              </a:rPr>
              <a:t>FINANCEIRO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76000"/>
            <a:ext cx="1080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5E20"/>
                </a:solidFill>
                <a:latin typeface="Calibri"/>
              </a:rPr>
              <a:t>Escala com estrutura enxuta</a:t>
            </a:r>
          </a:p>
        </p:txBody>
      </p:sp>
      <p:pic>
        <p:nvPicPr>
          <p:cNvPr id="5" name="Picture 4" descr="chart_f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84000"/>
            <a:ext cx="7020000" cy="32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4896000"/>
            <a:ext cx="70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55B55"/>
                </a:solidFill>
                <a:latin typeface="Calibri"/>
              </a:rPr>
              <a:t>Receita bruta e resultado líquido projetados (R$ mil)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2000" y="1584000"/>
            <a:ext cx="1728000" cy="1296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92000" y="1728000"/>
            <a:ext cx="1728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B5E20"/>
                </a:solidFill>
                <a:latin typeface="Calibri"/>
              </a:rPr>
              <a:t>R$ 144 mil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0" y="2250000"/>
            <a:ext cx="172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55B55"/>
                </a:solidFill>
                <a:latin typeface="Calibri"/>
              </a:rPr>
              <a:t>investimento inicial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64000" y="1584000"/>
            <a:ext cx="1728000" cy="1296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64000" y="1728000"/>
            <a:ext cx="1728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B5E20"/>
                </a:solidFill>
                <a:latin typeface="Calibri"/>
              </a:rPr>
              <a:t>20,6% a.a.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4000" y="2250000"/>
            <a:ext cx="172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55B55"/>
                </a:solidFill>
                <a:latin typeface="Calibri"/>
              </a:rPr>
              <a:t>TIR estimada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2000" y="3024000"/>
            <a:ext cx="1728000" cy="1296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92000" y="3168000"/>
            <a:ext cx="1728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B5E20"/>
                </a:solidFill>
                <a:latin typeface="Calibri"/>
              </a:rPr>
              <a:t>Ano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2000" y="3690000"/>
            <a:ext cx="172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55B55"/>
                </a:solidFill>
                <a:latin typeface="Calibri"/>
              </a:rPr>
              <a:t>virada para lucro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64000" y="3024000"/>
            <a:ext cx="1728000" cy="1296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864000" y="3168000"/>
            <a:ext cx="1728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B5E20"/>
                </a:solidFill>
                <a:latin typeface="Calibri"/>
              </a:rPr>
              <a:t>Ano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64000" y="3690000"/>
            <a:ext cx="172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55B55"/>
                </a:solidFill>
                <a:latin typeface="Calibri"/>
              </a:rPr>
              <a:t>payback do investimento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2000" y="4392000"/>
            <a:ext cx="36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Monetização em 4 frentes: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●  Assinatura freemium no app (B2C)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●  Licença B2B EcoTracker Compliance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●  Patrocínio de marcas sustentáveis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●  Comissão sobre compensação de carbono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6318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555B55"/>
                </a:solidFill>
                <a:latin typeface="Calibri"/>
              </a:rPr>
              <a:t>Projeção da planilha de viabilidade financeira da entrega anterior; premissas de volume e preço estimadas.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72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C34A"/>
                </a:solidFill>
                <a:latin typeface="Calibri"/>
              </a:rPr>
              <a:t>FINANCEIRO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76000"/>
            <a:ext cx="1080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5E20"/>
                </a:solidFill>
                <a:latin typeface="Calibri"/>
              </a:rPr>
              <a:t>Necessidade de caixa e ponto de virada</a:t>
            </a:r>
          </a:p>
        </p:txBody>
      </p:sp>
      <p:pic>
        <p:nvPicPr>
          <p:cNvPr id="5" name="Picture 4" descr="chart_caix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655999"/>
            <a:ext cx="7623529" cy="28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4464000"/>
            <a:ext cx="109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55B55"/>
                </a:solidFill>
                <a:latin typeface="Calibri"/>
              </a:rPr>
              <a:t>Caixa acumulado desde o investimento inicial (R$ mil)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4824000"/>
            <a:ext cx="3528000" cy="1584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6000" y="4932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Core do negócio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5328000"/>
            <a:ext cx="3168000" cy="1007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212121"/>
                </a:solidFill>
                <a:latin typeface="Calibri"/>
              </a:rPr>
              <a:t>A régua de conformidade: dados de emissão, prazos e evidências auditáveis.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0" y="4824000"/>
            <a:ext cx="3528000" cy="1584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00000" y="4932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O que rouba escala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0" y="5328000"/>
            <a:ext cx="3168000" cy="1007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212121"/>
                </a:solidFill>
                <a:latin typeface="Calibri"/>
              </a:rPr>
              <a:t>Consultoria, implantação assistida e laudos — mantidos via parceiros, não internalizados.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4000" y="4824000"/>
            <a:ext cx="3528000" cy="1584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44000" y="4932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Parceiros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000" y="5328000"/>
            <a:ext cx="3168000" cy="1007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212121"/>
                </a:solidFill>
                <a:latin typeface="Calibri"/>
              </a:rPr>
              <a:t>Consultorias ESG, certificadoras de crédito de carbono, contabilidade e marcas patrocinadoras.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72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C34A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76000"/>
            <a:ext cx="1080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5E20"/>
                </a:solidFill>
                <a:latin typeface="Calibri"/>
              </a:rPr>
              <a:t>Produto e novas receitas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00" y="1944000"/>
            <a:ext cx="2088000" cy="3960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76000" y="1980000"/>
            <a:ext cx="20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520000"/>
            <a:ext cx="194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MVP validado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3168000"/>
            <a:ext cx="19440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API REST, app Android, base MongoDB, CRUD e alertas em operação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4000" y="1944000"/>
            <a:ext cx="2088000" cy="3960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844000" y="1980000"/>
            <a:ext cx="20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 meses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000" y="2520000"/>
            <a:ext cx="194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Importação e integração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000" y="3168000"/>
            <a:ext cx="19440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Carga de planilhas, API de concessionárias de energia e sensores IoT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2000" y="1944000"/>
            <a:ext cx="2088000" cy="3960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12000" y="1980000"/>
            <a:ext cx="20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12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000" y="2520000"/>
            <a:ext cx="194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EcoTracker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000" y="3168000"/>
            <a:ext cx="19440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Produto B2B: multiunidade, relatórios CVM 193/GHG Protocol, trilha de auditoria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80000" y="1944000"/>
            <a:ext cx="2088000" cy="3960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80000" y="1980000"/>
            <a:ext cx="20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24 meses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000" y="2520000"/>
            <a:ext cx="194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Marketplace de carbono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000" y="3168000"/>
            <a:ext cx="19440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Compensação dentro da plataforma, com comissão por transação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8000" y="1944000"/>
            <a:ext cx="2088000" cy="3960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48000" y="1980000"/>
            <a:ext cx="20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36 meses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2520000"/>
            <a:ext cx="194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Cidades e cadeia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00" y="3168000"/>
            <a:ext cx="19440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Painel para prefeituras e score de fornecedores da cadeia de suprimentos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616000"/>
            <a:ext cx="108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Cada etapa abre uma nova linha de receita sem trocar a base tecnológica.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72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BC34A"/>
                </a:solidFill>
                <a:latin typeface="Calibri"/>
              </a:rPr>
              <a:t>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576000"/>
            <a:ext cx="10800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5E20"/>
                </a:solidFill>
                <a:latin typeface="Calibri"/>
              </a:rPr>
              <a:t>Quem constrói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00" y="1800000"/>
            <a:ext cx="5256000" cy="33840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7999" y="2015999"/>
            <a:ext cx="4752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5E20"/>
                </a:solidFill>
                <a:latin typeface="Calibri"/>
              </a:rPr>
              <a:t>Markus de Figueiredo Ferraz Wirz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999" y="2484000"/>
            <a:ext cx="4752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555B55"/>
                </a:solidFill>
                <a:latin typeface="Calibri"/>
              </a:rPr>
              <a:t>Fundador – produto e engenharia  |  RM561367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999" y="2951999"/>
            <a:ext cx="4752000" cy="201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●  Concepção do produto e modelo de negócio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●  Desenvolvimento da API .NET 8, do app Android e da base MongoDB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●  Validação com usuários e relacionamento comercial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●  FIAP – Análise e Desenvolvimento de Sistemas, Grupo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000" y="1800000"/>
            <a:ext cx="5256000" cy="33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8000" y="2015999"/>
            <a:ext cx="4752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5E20"/>
                </a:solidFill>
                <a:latin typeface="Calibri"/>
              </a:rPr>
              <a:t>Próximas contratações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000" y="2520000"/>
            <a:ext cx="4752000" cy="24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●  Especialista em compliance ambiental — conteúdo regulatório e metodologia de auditoria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●  Desenvolvedor(a) back-end — integrações com concessionárias e sensores IoT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●  Vendas B2B — contas de médio porte em SP e MG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●  Parceiros: consultorias ESG e certificadoras atuam como canal, sem custo fixo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584000"/>
            <a:ext cx="1044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Conformidade ambiental deixa de ser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uma planilha e passa a ser um sistema.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600000"/>
            <a:ext cx="972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 i="0">
                <a:solidFill>
                  <a:srgbClr val="8BC34A"/>
                </a:solidFill>
                <a:latin typeface="Calibri"/>
              </a:rPr>
              <a:t>MVP validado, modelo de receita definido e caixa positivo no Ano 3.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 i="0">
                <a:solidFill>
                  <a:srgbClr val="8BC34A"/>
                </a:solidFill>
                <a:latin typeface="Calibri"/>
              </a:rPr>
              <a:t>Buscamos R$ 144 mil para acelerar integração e vendas B2B.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5472000"/>
            <a:ext cx="1008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Markus de Figueiredo Ferraz Wirz (RM561367)  –  markusfwirz@gmail.com  –  FIAP, Grupo 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